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3cfb3ccad514a21" Type="http://schemas.openxmlformats.org/package/2006/relationships/metadata/core-properties" Target="docProps/core.xml"/><Relationship Id="R99bc6cd52cc8429c" Type="http://schemas.openxmlformats.org/officeDocument/2006/relationships/officeDocument" Target="ppt/presentation.xml"/><Relationship Id="Rb48e5496771d4a2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6e9af01274399"/>
  </p:sldMasterIdLst>
  <p:notesMasterIdLst>
    <p:notesMasterId xmlns:r="http://schemas.openxmlformats.org/officeDocument/2006/relationships" r:id="Rd84b97ae421241b5"/>
  </p:notesMasterIdLst>
  <p:sldIdLst>
    <p:sldId xmlns:r="http://schemas.openxmlformats.org/officeDocument/2006/relationships" id="256" r:id="Rb9048522eaab4bab"/>
    <p:sldId xmlns:r="http://schemas.openxmlformats.org/officeDocument/2006/relationships" id="257" r:id="Rc021c411320c41b2"/>
    <p:sldId xmlns:r="http://schemas.openxmlformats.org/officeDocument/2006/relationships" id="258" r:id="R3c41d02d724840d2"/>
    <p:sldId xmlns:r="http://schemas.openxmlformats.org/officeDocument/2006/relationships" id="259" r:id="R72b589ed64e54014"/>
    <p:sldId xmlns:r="http://schemas.openxmlformats.org/officeDocument/2006/relationships" id="260" r:id="R16337e05c03d4a47"/>
    <p:sldId xmlns:r="http://schemas.openxmlformats.org/officeDocument/2006/relationships" id="261" r:id="R997826554e2a4039"/>
    <p:sldId xmlns:r="http://schemas.openxmlformats.org/officeDocument/2006/relationships" id="262" r:id="Rf4829618073846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337e05c03d4a47" Type="http://schemas.openxmlformats.org/officeDocument/2006/relationships/slide" Target="slides/slide5.xml"/><Relationship Id="R3c41d02d724840d2" Type="http://schemas.openxmlformats.org/officeDocument/2006/relationships/slide" Target="slides/slide3.xml"/><Relationship Id="R72b589ed64e54014" Type="http://schemas.openxmlformats.org/officeDocument/2006/relationships/slide" Target="slides/slide4.xml"/><Relationship Id="R997826554e2a4039" Type="http://schemas.openxmlformats.org/officeDocument/2006/relationships/slide" Target="slides/slide6.xml"/><Relationship Id="Ra14d671620724301" Type="http://schemas.openxmlformats.org/officeDocument/2006/relationships/presProps" Target="presProps.xml"/><Relationship Id="Ra3d6e9af01274399" Type="http://schemas.openxmlformats.org/officeDocument/2006/relationships/slideMaster" Target="slideMasters/slideMaster1.xml"/><Relationship Id="Ra5c351abd3d24c35" Type="http://schemas.openxmlformats.org/officeDocument/2006/relationships/theme" Target="theme/theme1.xml"/><Relationship Id="Rb9048522eaab4bab" Type="http://schemas.openxmlformats.org/officeDocument/2006/relationships/slide" Target="slides/slide1.xml"/><Relationship Id="Rb98ad18bbbd44adf" Type="http://schemas.openxmlformats.org/officeDocument/2006/relationships/tableStyles" Target="tableStyles.xml"/><Relationship Id="Rc021c411320c41b2" Type="http://schemas.openxmlformats.org/officeDocument/2006/relationships/slide" Target="slides/slide2.xml"/><Relationship Id="Rd84b97ae421241b5" Type="http://schemas.openxmlformats.org/officeDocument/2006/relationships/notesMaster" Target="notesMasters/notesMaster1.xml"/><Relationship Id="Rf48296180738464c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febb9f0a9bf841a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1de5f58c2814298" Type="http://schemas.openxmlformats.org/officeDocument/2006/relationships/slide" Target="../slides/slide1.xml"/><Relationship Id="R5a75ba623d5a452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8ec50e2fd834a7b" Type="http://schemas.openxmlformats.org/officeDocument/2006/relationships/notesMaster" Target="../notesMasters/notesMaster1.xml"/><Relationship Id="Rb6a603e8962e441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f79d826fafb4274" Type="http://schemas.openxmlformats.org/officeDocument/2006/relationships/notesMaster" Target="../notesMasters/notesMaster1.xml"/><Relationship Id="Re04465d8316e45f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b340ba1b21e4a59" Type="http://schemas.openxmlformats.org/officeDocument/2006/relationships/slide" Target="../slides/slide4.xml"/><Relationship Id="Rd08ad6efba7d411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90269343abc4d96" Type="http://schemas.openxmlformats.org/officeDocument/2006/relationships/notesMaster" Target="../notesMasters/notesMaster1.xml"/><Relationship Id="Rea54687515f4487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cb363b48c304760" Type="http://schemas.openxmlformats.org/officeDocument/2006/relationships/slide" Target="../slides/slide6.xml"/><Relationship Id="R90e497c85bf6433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53e18825c324c54" Type="http://schemas.openxmlformats.org/officeDocument/2006/relationships/notesMaster" Target="../notesMasters/notesMaster1.xml"/><Relationship Id="R8c63ad9027204afe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problem: assigning work is different from proving a room ready. Scope is User, Room, Task and Inspection. No bookings, payments or Analytics. Source: docs/CAPSTONE_SUBMISSION.md.</a:t>
            </a:r>
          </a:p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Baseline main aa8d2b9c7e2ee43b20b88fc895a613f12d18c8e7 with uncommitted required-completion changes. No publication or submission readiness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Browser -&gt; React API client -&gt; Spring Security -&gt; Controller -&gt; Service -&gt; Repository -&gt; MySQL. Local source is implemented. Proposed HTTPS same-origin hosting is prepared, not deployed. Source: docs/REQUIRED_COMPLETION.md and docs/BACKEND_GUIDE.md.</a:t>
            </a:r>
          </a:p>
          <a:p xmlns:a="http://schemas.openxmlformats.org/drawingml/2006/main">
            <a:r>
              <a:t>Timing: 45 seconds.</a:t>
            </a:r>
          </a:p>
          <a:p xmlns:a="http://schemas.openxmlformats.org/drawingml/2006/main">
            <a:r>
              <a:t>Baseline main aa8d2b9c7e2ee43b20b88fc895a613f12d18c8e7 with uncommitted required-completion changes. No publication or submission readiness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 to the four-table ERD and five required foreign keys. PASS makes READY; FAIL makes DIRTY. A new task preserves earlier cycles. Source: database/schema.sql and docs/CAPSTONE_SUBMISSION.md.</a:t>
            </a:r>
          </a:p>
          <a:p xmlns:a="http://schemas.openxmlformats.org/drawingml/2006/main">
            <a:r>
              <a:t>Timing: 45 seconds.</a:t>
            </a:r>
          </a:p>
          <a:p xmlns:a="http://schemas.openxmlformats.org/drawingml/2006/main">
            <a:r>
              <a:t>Baseline main aa8d2b9c7e2ee43b20b88fc895a613f12d18c8e7 with uncommitted required-completion changes. No publication or submission readiness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 historical October 11 evidence, inspected October 12. Do not call it a fresh recording. Current read-only walkthrough: sign in privately as housekeeper, show completed/assigned tasks; switch privately to manager for history if available. Do not display credentials, hashes, tokens, .env or network responses. Mutations need separate fixture approval. Source: docs/LOCAL_DEMO_WALKTHROUGH.md; image target/frontend-demo-completed.png.</a:t>
            </a:r>
          </a:p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Baseline main aa8d2b9c7e2ee43b20b88fc895a613f12d18c8e7 with uncommitted required-completion changes. No publication or submission readiness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manager history read-only if private access is available. Otherwise use documented verified example and disclose the fallback. Demonstrate a USER navigating to /rooms: Access denied; this was observed in the prior closeout. No destructive action needed. Source: docs/LOCAL_DEMO_WALKTHROUGH.md and docs/SECURITY_AND_QUALITY.md.</a:t>
            </a:r>
          </a:p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Baseline main aa8d2b9c7e2ee43b20b88fc895a613f12d18c8e7 with uncommitted required-completion changes. No publication or submission readiness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User -&gt; Room -&gt; Task lock ordering and separate login/logout account locking. Page defaults: 0 and 20, max size 100, fixed ordering with id tie-breaks. Dashboard never estimates from one page; it rejects changing totals/duplicates. Multi-request reads are not an atomic database snapshot. Offline verification is distinct from the 21 skipped live entries. Source: service classes, dto/PageResponse.java, frontend/src/services/housekeepingService.js.</a:t>
            </a:r>
          </a:p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Baseline main aa8d2b9c7e2ee43b20b88fc895a613f12d18c8e7 with uncommitted required-completion changes. No publication or submission readiness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honestly: locally implemented pagination, guarded seed and pipeline/deployment configuration do not prove executed MySQL seed, Sonar quality gate, Jenkins success or deployed end-to-end behavior. No current hosting URLs exist. Genuine peer reviews, Jira, self-assessment, Canvas and private access remain user-owned. Source: docs/REQUIRED_COMPLETION.md.</a:t>
            </a:r>
          </a:p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Baseline main aa8d2b9c7e2ee43b20b88fc895a613f12d18c8e7 with uncommitted required-completion changes. No publication or submission readiness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cefd91f232d4fc7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8cd8ef5e346944dd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9a53523745e404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8cf42e7f92fb444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d543d9efec064c4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2fdfe73eeba1470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89CD49-888C-40BE-81AE-79885017E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4D7BCB-664B-43F7-9CC8-3517E5067C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7E1E7A-76ED-4F35-8899-D1BB5F45D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E79034-C492-40D4-B236-D4DE06740E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0FB135-FF31-400B-B7C4-064BBA23A4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B9EC52-5155-4F0A-BA9E-C3E762A51F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D8A542-6D62-4CD8-AFAA-196E2185BC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E52E3A-3A31-4209-9DB6-0D3110AAF7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C87B92-D083-4F6A-9E4D-7F0486E77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2867FB-18F1-4269-9692-118DF52EE6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b2c7c4d7c794f72" Type="http://schemas.openxmlformats.org/officeDocument/2006/relationships/slideLayout" Target="../slideLayouts/slideLayout3.xml"/><Relationship Id="R47ec8a12f3c14907" Type="http://schemas.openxmlformats.org/officeDocument/2006/relationships/slideLayout" Target="../slideLayouts/slideLayout4.xml"/><Relationship Id="R6490b4c3b5be442f" Type="http://schemas.openxmlformats.org/officeDocument/2006/relationships/theme" Target="theme/theme2.xml"/><Relationship Id="R654d0042a2d5404c" Type="http://schemas.openxmlformats.org/officeDocument/2006/relationships/slideLayout" Target="../slideLayouts/slideLayout5.xml"/><Relationship Id="R72f3a789f0614226" Type="http://schemas.openxmlformats.org/officeDocument/2006/relationships/slideLayout" Target="../slideLayouts/slideLayout6.xml"/><Relationship Id="Ra0fbe98300e94730" Type="http://schemas.openxmlformats.org/officeDocument/2006/relationships/slideLayout" Target="../slideLayouts/slideLayout2.xml"/><Relationship Id="Rd38552246af04ab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552246af04abd"/>
    <p:sldLayoutId xmlns:r="http://schemas.openxmlformats.org/officeDocument/2006/relationships" id="2147483650" r:id="Ra0fbe98300e94730"/>
    <p:sldLayoutId xmlns:r="http://schemas.openxmlformats.org/officeDocument/2006/relationships" id="2147483651" r:id="R0b2c7c4d7c794f72"/>
    <p:sldLayoutId xmlns:r="http://schemas.openxmlformats.org/officeDocument/2006/relationships" id="2147483652" r:id="R47ec8a12f3c14907"/>
    <p:sldLayoutId xmlns:r="http://schemas.openxmlformats.org/officeDocument/2006/relationships" id="2147483653" r:id="R654d0042a2d5404c"/>
    <p:sldLayoutId xmlns:r="http://schemas.openxmlformats.org/officeDocument/2006/relationships" id="2147483654" r:id="R72f3a789f06142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b37d2f4977e432f" Type="http://schemas.openxmlformats.org/officeDocument/2006/relationships/slideLayout" Target="../slideLayouts/slideLayout6.xml"/><Relationship Id="R5df8f952494a41c6" Type="http://schemas.openxmlformats.org/officeDocument/2006/relationships/image" Target="../media/image.png"/><Relationship Id="Rf7474a076a26478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c72acefec294cb3" Type="http://schemas.openxmlformats.org/officeDocument/2006/relationships/slideLayout" Target="../slideLayouts/slideLayout6.xml"/><Relationship Id="Rd885e47a80424ab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8440813a7284d7f" Type="http://schemas.openxmlformats.org/officeDocument/2006/relationships/notesSlide" Target="../notesSlides/notesSlide3.xml"/><Relationship Id="Rd05444f66d004fb8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7af2e082a06249d3" Type="http://schemas.openxmlformats.org/officeDocument/2006/relationships/notesSlide" Target="../notesSlides/notesSlide4.xml"/><Relationship Id="Rb4486f613def4ef7" Type="http://schemas.openxmlformats.org/officeDocument/2006/relationships/image" Target="../media/image.jpeg"/><Relationship Id="Re494a1ae39e04309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216b3fa7030c4153" Type="http://schemas.openxmlformats.org/officeDocument/2006/relationships/slideLayout" Target="../slideLayouts/slideLayout6.xml"/><Relationship Id="R32d615962d34482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d014ed2bc2a4c20" Type="http://schemas.openxmlformats.org/officeDocument/2006/relationships/slideLayout" Target="../slideLayouts/slideLayout6.xml"/><Relationship Id="R4e8236bfa75d4e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7492170a54a345c3" Type="http://schemas.openxmlformats.org/officeDocument/2006/relationships/notesSlide" Target="../notesSlides/notesSlide7.xml"/><Relationship Id="R86804981f57a462a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741B844-D03F-470E-9FA5-239F4A20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Rockey housekeeping</a:t>
            </a:r>
          </a:p>
        </p:txBody>
      </p:sp>
      <p:sp>
        <p:nvSpPr>
          <p:cNvPr id="2" name="body-205">
            <a:extLst xmlns:a="http://schemas.openxmlformats.org/drawingml/2006/main">
              <a:ext uri="{FF2B5EF4-FFF2-40B4-BE49-F238E27FC236}">
                <a16:creationId xmlns:a16="http://schemas.microsoft.com/office/drawing/2014/main" id="{2F0767B6-3EAD-40D6-9C5E-73B1D46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Clear ownership for cleaning work</a:t>
            </a:r>
          </a:p>
        </p:txBody>
      </p:sp>
      <p:sp>
        <p:nvSpPr>
          <p:cNvPr id="3" name="body-295">
            <a:extLst xmlns:a="http://schemas.openxmlformats.org/drawingml/2006/main">
              <a:ext uri="{FF2B5EF4-FFF2-40B4-BE49-F238E27FC236}">
                <a16:creationId xmlns:a16="http://schemas.microsoft.com/office/drawing/2014/main" id="{BED6D48A-1F7D-42B9-B784-BF718436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Housekeepers execute their assigned tasks</a:t>
            </a:r>
          </a:p>
        </p:txBody>
      </p:sp>
      <p:sp>
        <p:nvSpPr>
          <p:cNvPr id="4" name="body-385">
            <a:extLst xmlns:a="http://schemas.openxmlformats.org/drawingml/2006/main">
              <a:ext uri="{FF2B5EF4-FFF2-40B4-BE49-F238E27FC236}">
                <a16:creationId xmlns:a16="http://schemas.microsoft.com/office/drawing/2014/main" id="{6292DA15-B93E-4DE6-8FAD-62B3DA55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Managers and admins supervise readiness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4945-E414-4653-940C-77F494F5AE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8f952494a41c6"/>
          <a:stretch xmlns:a="http://schemas.openxmlformats.org/drawingml/2006/main"/>
        </p:blipFill>
        <p:spPr>
          <a:xfrm xmlns:a="http://schemas.openxmlformats.org/drawingml/2006/main">
            <a:off x="9358313" y="4572000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A2D61DC-49C4-4B14-82C8-50DAC4CD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D5DD"/>
                </a:solidFill>
                <a:latin typeface="Aptos"/>
                <a:ea typeface="Aptos"/>
                <a:cs typeface="Aptos"/>
              </a:rPr>
              <a:t>ROCKEY  /  1 minute  /  1 of 7</a:t>
            </a:r>
          </a:p>
        </p:txBody>
      </p:sp>
    </p:spTree>
    <p:extLst>
      <p:ext uri="{BB962C8B-B14F-4D97-AF65-F5344CB8AC3E}">
        <p14:creationId xmlns:p14="http://schemas.microsoft.com/office/powerpoint/2010/main" val="1724598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BD9F32B-C0F4-4D42-AC1A-FE123237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local application</a:t>
            </a:r>
          </a:p>
        </p:txBody>
      </p:sp>
      <p:sp>
        <p:nvSpPr>
          <p:cNvPr id="2" name="body-205">
            <a:extLst xmlns:a="http://schemas.openxmlformats.org/drawingml/2006/main">
              <a:ext uri="{FF2B5EF4-FFF2-40B4-BE49-F238E27FC236}">
                <a16:creationId xmlns:a16="http://schemas.microsoft.com/office/drawing/2014/main" id="{0763D9C9-B38E-4B0D-AA65-CA3C94AA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React and Vite provide six routes</a:t>
            </a:r>
          </a:p>
        </p:txBody>
      </p:sp>
      <p:sp>
        <p:nvSpPr>
          <p:cNvPr id="3" name="body-295">
            <a:extLst xmlns:a="http://schemas.openxmlformats.org/drawingml/2006/main">
              <a:ext uri="{FF2B5EF4-FFF2-40B4-BE49-F238E27FC236}">
                <a16:creationId xmlns:a16="http://schemas.microsoft.com/office/drawing/2014/main" id="{8A3D4D3E-7333-406D-B021-5E6F2A8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Spring Security authenticates and checks roles</a:t>
            </a:r>
          </a:p>
        </p:txBody>
      </p:sp>
      <p:sp>
        <p:nvSpPr>
          <p:cNvPr id="4" name="body-385">
            <a:extLst xmlns:a="http://schemas.openxmlformats.org/drawingml/2006/main">
              <a:ext uri="{FF2B5EF4-FFF2-40B4-BE49-F238E27FC236}">
                <a16:creationId xmlns:a16="http://schemas.microsoft.com/office/drawing/2014/main" id="{D5E1D366-7F47-4B40-9280-1B6DF9C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Services coordinate JPA and MySQL transactions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28B409D-987B-419C-9C9D-E9CF305E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D5DD"/>
                </a:solidFill>
                <a:latin typeface="Aptos"/>
                <a:ea typeface="Aptos"/>
                <a:cs typeface="Aptos"/>
              </a:rPr>
              <a:t>ROCKEY  /  45 seconds  /  2 of 7</a:t>
            </a:r>
          </a:p>
        </p:txBody>
      </p:sp>
    </p:spTree>
    <p:extLst>
      <p:ext uri="{BB962C8B-B14F-4D97-AF65-F5344CB8AC3E}">
        <p14:creationId xmlns:p14="http://schemas.microsoft.com/office/powerpoint/2010/main" val="1636291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B683041-0194-46AE-990C-7C9B4377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Four entities and retained history</a:t>
            </a:r>
          </a:p>
        </p:txBody>
      </p:sp>
      <p:sp>
        <p:nvSpPr>
          <p:cNvPr id="2" name="body-205">
            <a:extLst xmlns:a="http://schemas.openxmlformats.org/drawingml/2006/main">
              <a:ext uri="{FF2B5EF4-FFF2-40B4-BE49-F238E27FC236}">
                <a16:creationId xmlns:a16="http://schemas.microsoft.com/office/drawing/2014/main" id="{BCFD7F1F-2E2F-4783-B2F7-F98AF315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User owns assigned cleaning tasks</a:t>
            </a:r>
          </a:p>
        </p:txBody>
      </p:sp>
      <p:sp>
        <p:nvSpPr>
          <p:cNvPr id="3" name="body-295">
            <a:extLst xmlns:a="http://schemas.openxmlformats.org/drawingml/2006/main">
              <a:ext uri="{FF2B5EF4-FFF2-40B4-BE49-F238E27FC236}">
                <a16:creationId xmlns:a16="http://schemas.microsoft.com/office/drawing/2014/main" id="{34985BCC-0112-4EC8-9349-D91CC01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Task links a worker and a room</a:t>
            </a:r>
          </a:p>
        </p:txBody>
      </p:sp>
      <p:sp>
        <p:nvSpPr>
          <p:cNvPr id="4" name="body-385">
            <a:extLst xmlns:a="http://schemas.openxmlformats.org/drawingml/2006/main">
              <a:ext uri="{FF2B5EF4-FFF2-40B4-BE49-F238E27FC236}">
                <a16:creationId xmlns:a16="http://schemas.microsoft.com/office/drawing/2014/main" id="{E7E50CB8-692A-45CD-A335-F1E60AA0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Inspection records task, room and supervisor</a:t>
            </a:r>
          </a:p>
        </p:txBody>
      </p:sp>
      <p:sp>
        <p:nvSpPr>
          <p:cNvPr id="5" name="body-475">
            <a:extLst xmlns:a="http://schemas.openxmlformats.org/drawingml/2006/main">
              <a:ext uri="{FF2B5EF4-FFF2-40B4-BE49-F238E27FC236}">
                <a16:creationId xmlns:a16="http://schemas.microsoft.com/office/drawing/2014/main" id="{6275960B-2A7D-46DD-8767-F77EA11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Cancellation and deactivation retain rows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827CB-D101-4AFA-A5AF-27C84FD5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D5DD"/>
                </a:solidFill>
                <a:latin typeface="Aptos"/>
                <a:ea typeface="Aptos"/>
                <a:cs typeface="Aptos"/>
              </a:rPr>
              <a:t>ROCKEY  /  45 seconds  /  3 of 7</a:t>
            </a:r>
          </a:p>
        </p:txBody>
      </p:sp>
    </p:spTree>
    <p:extLst>
      <p:ext uri="{BB962C8B-B14F-4D97-AF65-F5344CB8AC3E}">
        <p14:creationId xmlns:p14="http://schemas.microsoft.com/office/powerpoint/2010/main" val="747987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7A1772B-F323-418E-8B53-E1FBB4B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Prepared cleaning and inspection demo</a:t>
            </a:r>
          </a:p>
        </p:txBody>
      </p:sp>
      <p:sp>
        <p:nvSpPr>
          <p:cNvPr id="2" name="body-205">
            <a:extLst xmlns:a="http://schemas.openxmlformats.org/drawingml/2006/main">
              <a:ext uri="{FF2B5EF4-FFF2-40B4-BE49-F238E27FC236}">
                <a16:creationId xmlns:a16="http://schemas.microsoft.com/office/drawing/2014/main" id="{29F3F5E5-7115-4AF7-A14F-F6F9F89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Room 204 shows completed work and READY</a:t>
            </a:r>
          </a:p>
        </p:txBody>
      </p:sp>
      <p:sp>
        <p:nvSpPr>
          <p:cNvPr id="3" name="body-295">
            <a:extLst xmlns:a="http://schemas.openxmlformats.org/drawingml/2006/main">
              <a:ext uri="{FF2B5EF4-FFF2-40B4-BE49-F238E27FC236}">
                <a16:creationId xmlns:a16="http://schemas.microsoft.com/office/drawing/2014/main" id="{EFAA8110-5210-48C2-85D3-F6A42001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Room 205 retains FAIL and assigned rework</a:t>
            </a:r>
          </a:p>
        </p:txBody>
      </p:sp>
      <p:sp>
        <p:nvSpPr>
          <p:cNvPr id="4" name="body-385">
            <a:extLst xmlns:a="http://schemas.openxmlformats.org/drawingml/2006/main">
              <a:ext uri="{FF2B5EF4-FFF2-40B4-BE49-F238E27FC236}">
                <a16:creationId xmlns:a16="http://schemas.microsoft.com/office/drawing/2014/main" id="{E28DE39A-2BC5-4F9D-ADC0-E638D9F4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Use existing authorized views</a:t>
            </a:r>
          </a:p>
        </p:txBody>
      </p:sp>
      <p:sp>
        <p:nvSpPr>
          <p:cNvPr id="5" name="body-475">
            <a:extLst xmlns:a="http://schemas.openxmlformats.org/drawingml/2006/main">
              <a:ext uri="{FF2B5EF4-FFF2-40B4-BE49-F238E27FC236}">
                <a16:creationId xmlns:a16="http://schemas.microsoft.com/office/drawing/2014/main" id="{3E783E4E-80A8-4F24-8D9E-A5ED1F8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Execute rework only with fixture approval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395BE-91CB-40D3-A40C-25D3C8D0C3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86f613def4ef7"/>
          <a:stretch xmlns:a="http://schemas.openxmlformats.org/drawingml/2006/main"/>
        </p:blipFill>
        <p:spPr>
          <a:xfrm xmlns:a="http://schemas.openxmlformats.org/drawingml/2006/main">
            <a:off x="5613611" y="1666875"/>
            <a:ext cx="5632027" cy="4714875"/>
          </a:xfrm>
          <a:prstGeom xmlns:a="http://schemas.openxmlformats.org/drawingml/2006/main" prst="rect">
            <a:avLst/>
          </a:prstGeom>
        </p:spPr>
      </p:pic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68F587B-192F-4AA4-90D8-225CA8F4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D5DD"/>
                </a:solidFill>
                <a:latin typeface="Aptos"/>
                <a:ea typeface="Aptos"/>
                <a:cs typeface="Aptos"/>
              </a:rPr>
              <a:t>ROCKEY  /  3 minutes  /  4 of 7</a:t>
            </a:r>
          </a:p>
        </p:txBody>
      </p:sp>
      <p:sp xmlns:a="http://schemas.openxmlformats.org/drawingml/2006/main">
        <p:nvSpPr>
          <p:cNvPr id="9" name="screenshot-caption"/>
          <p:cNvSpPr txBox="1"/>
          <p:nvPr/>
        </p:nvSpPr>
        <p:spPr>
          <a:xfrm>
            <a:off x="609600" y="5384800"/>
            <a:ext cx="42926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D5DD"/>
                </a:solidFill>
                <a:latin typeface="Aptos"/>
              </a:rPr>
              <a:t>Screenshot captured October 11, before pagination. Current lists add Previous/Next page controls and a record count.</a:t>
            </a:r>
          </a:p>
        </p:txBody>
      </p:sp>
    </p:spTree>
    <p:extLst>
      <p:ext uri="{BB962C8B-B14F-4D97-AF65-F5344CB8AC3E}">
        <p14:creationId xmlns:p14="http://schemas.microsoft.com/office/powerpoint/2010/main" val="463249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8245069-75B2-45F8-9B14-1F389D35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History and one rejected action</a:t>
            </a:r>
          </a:p>
        </p:txBody>
      </p:sp>
      <p:sp>
        <p:nvSpPr>
          <p:cNvPr id="2" name="body-205">
            <a:extLst xmlns:a="http://schemas.openxmlformats.org/drawingml/2006/main">
              <a:ext uri="{FF2B5EF4-FFF2-40B4-BE49-F238E27FC236}">
                <a16:creationId xmlns:a16="http://schemas.microsoft.com/office/drawing/2014/main" id="{940060B0-3862-428B-B68C-0B7FA7A8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Show the retained inspection record</a:t>
            </a:r>
          </a:p>
        </p:txBody>
      </p:sp>
      <p:sp>
        <p:nvSpPr>
          <p:cNvPr id="3" name="body-295">
            <a:extLst xmlns:a="http://schemas.openxmlformats.org/drawingml/2006/main">
              <a:ext uri="{FF2B5EF4-FFF2-40B4-BE49-F238E27FC236}">
                <a16:creationId xmlns:a16="http://schemas.microsoft.com/office/drawing/2014/main" id="{8CCD681A-206C-4B0E-9933-34258AC5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Explain why a supervisor inspects</a:t>
            </a:r>
          </a:p>
        </p:txBody>
      </p:sp>
      <p:sp>
        <p:nvSpPr>
          <p:cNvPr id="4" name="body-385">
            <a:extLst xmlns:a="http://schemas.openxmlformats.org/drawingml/2006/main">
              <a:ext uri="{FF2B5EF4-FFF2-40B4-BE49-F238E27FC236}">
                <a16:creationId xmlns:a16="http://schemas.microsoft.com/office/drawing/2014/main" id="{085372F1-92D4-412F-BBD0-696D56C3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Housekeeper access to Rooms is denied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108337-8DB1-4E4B-9A51-1248C5B3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D5DD"/>
                </a:solidFill>
                <a:latin typeface="Aptos"/>
                <a:ea typeface="Aptos"/>
                <a:cs typeface="Aptos"/>
              </a:rPr>
              <a:t>ROCKEY  /  1 minute  /  5 of 7</a:t>
            </a:r>
          </a:p>
        </p:txBody>
      </p:sp>
    </p:spTree>
    <p:extLst>
      <p:ext uri="{BB962C8B-B14F-4D97-AF65-F5344CB8AC3E}">
        <p14:creationId xmlns:p14="http://schemas.microsoft.com/office/powerpoint/2010/main" val="596949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849AC52-6DD0-4FBD-87EC-86DFD9AF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Transactions, ownership and pagination</a:t>
            </a:r>
          </a:p>
        </p:txBody>
      </p:sp>
      <p:sp>
        <p:nvSpPr>
          <p:cNvPr id="2" name="body-205">
            <a:extLst xmlns:a="http://schemas.openxmlformats.org/drawingml/2006/main">
              <a:ext uri="{FF2B5EF4-FFF2-40B4-BE49-F238E27FC236}">
                <a16:creationId xmlns:a16="http://schemas.microsoft.com/office/drawing/2014/main" id="{D45A2A21-7344-4CC0-882F-BE4C4008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Service transactions keep workflow changes together</a:t>
            </a:r>
          </a:p>
        </p:txBody>
      </p:sp>
      <p:sp>
        <p:nvSpPr>
          <p:cNvPr id="3" name="body-295">
            <a:extLst xmlns:a="http://schemas.openxmlformats.org/drawingml/2006/main">
              <a:ext uri="{FF2B5EF4-FFF2-40B4-BE49-F238E27FC236}">
                <a16:creationId xmlns:a16="http://schemas.microsoft.com/office/drawing/2014/main" id="{B1FA2871-532B-4969-9FA5-DC8C349B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Ordered locks protect competing writes</a:t>
            </a:r>
          </a:p>
        </p:txBody>
      </p:sp>
      <p:sp>
        <p:nvSpPr>
          <p:cNvPr id="4" name="body-385">
            <a:extLst xmlns:a="http://schemas.openxmlformats.org/drawingml/2006/main">
              <a:ext uri="{FF2B5EF4-FFF2-40B4-BE49-F238E27FC236}">
                <a16:creationId xmlns:a16="http://schemas.microsoft.com/office/drawing/2014/main" id="{70A969C3-64D7-4669-B0CF-087085B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Page rows and totals share authorization</a:t>
            </a:r>
          </a:p>
        </p:txBody>
      </p:sp>
      <p:sp>
        <p:nvSpPr>
          <p:cNvPr id="5" name="body-475">
            <a:extLst xmlns:a="http://schemas.openxmlformats.org/drawingml/2006/main">
              <a:ext uri="{FF2B5EF4-FFF2-40B4-BE49-F238E27FC236}">
                <a16:creationId xmlns:a16="http://schemas.microsoft.com/office/drawing/2014/main" id="{8DB26A9E-C9A4-41F2-8C7C-D4B8CC26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Dashboard reads all scoped pages for counts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0B29742-F9FB-4CDC-9DE2-CCE1D842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D5DD"/>
                </a:solidFill>
                <a:latin typeface="Aptos"/>
                <a:ea typeface="Aptos"/>
                <a:cs typeface="Aptos"/>
              </a:rPr>
              <a:t>ROCKEY  /  1.5 minutes  /  6 of 7</a:t>
            </a:r>
          </a:p>
        </p:txBody>
      </p:sp>
    </p:spTree>
    <p:extLst>
      <p:ext uri="{BB962C8B-B14F-4D97-AF65-F5344CB8AC3E}">
        <p14:creationId xmlns:p14="http://schemas.microsoft.com/office/powerpoint/2010/main" val="193460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9926727-E53B-4FE3-9B1F-3047EBD3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Lessons and required completion</a:t>
            </a:r>
          </a:p>
        </p:txBody>
      </p:sp>
      <p:sp>
        <p:nvSpPr>
          <p:cNvPr id="2" name="body-205">
            <a:extLst xmlns:a="http://schemas.openxmlformats.org/drawingml/2006/main">
              <a:ext uri="{FF2B5EF4-FFF2-40B4-BE49-F238E27FC236}">
                <a16:creationId xmlns:a16="http://schemas.microsoft.com/office/drawing/2014/main" id="{93457536-DFC6-4345-BB06-268BA8D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Keep scope small and evidence precise</a:t>
            </a:r>
          </a:p>
        </p:txBody>
      </p:sp>
      <p:sp>
        <p:nvSpPr>
          <p:cNvPr id="3" name="body-295">
            <a:extLst xmlns:a="http://schemas.openxmlformats.org/drawingml/2006/main">
              <a:ext uri="{FF2B5EF4-FFF2-40B4-BE49-F238E27FC236}">
                <a16:creationId xmlns:a16="http://schemas.microsoft.com/office/drawing/2014/main" id="{538B3DC2-1C1E-45F9-BCD7-28EB07D0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AWS is the only waiver</a:t>
            </a:r>
          </a:p>
        </p:txBody>
      </p:sp>
      <p:sp>
        <p:nvSpPr>
          <p:cNvPr id="4" name="body-385">
            <a:extLst xmlns:a="http://schemas.openxmlformats.org/drawingml/2006/main">
              <a:ext uri="{FF2B5EF4-FFF2-40B4-BE49-F238E27FC236}">
                <a16:creationId xmlns:a16="http://schemas.microsoft.com/office/drawing/2014/main" id="{E3FB628E-AC6B-4A9D-9DDF-1A25A94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Sonar and Jenkins require authorized services</a:t>
            </a:r>
          </a:p>
        </p:txBody>
      </p:sp>
      <p:sp>
        <p:nvSpPr>
          <p:cNvPr id="5" name="body-475">
            <a:extLst xmlns:a="http://schemas.openxmlformats.org/drawingml/2006/main">
              <a:ext uri="{FF2B5EF4-FFF2-40B4-BE49-F238E27FC236}">
                <a16:creationId xmlns:a16="http://schemas.microsoft.com/office/drawing/2014/main" id="{BDC78FBB-1325-48E6-8E77-03F50F1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Deployment, protection and external artifacts remain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B05705B-5796-42C6-9E54-A43C72FA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D5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D5DD"/>
                </a:solidFill>
                <a:latin typeface="Aptos"/>
                <a:ea typeface="Aptos"/>
                <a:cs typeface="Aptos"/>
              </a:rPr>
              <a:t>ROCKEY  /  1 minute  /  7 of 7</a:t>
            </a:r>
          </a:p>
        </p:txBody>
      </p:sp>
    </p:spTree>
    <p:extLst>
      <p:ext uri="{BB962C8B-B14F-4D97-AF65-F5344CB8AC3E}">
        <p14:creationId xmlns:p14="http://schemas.microsoft.com/office/powerpoint/2010/main" val="2114545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2026-10-12T19:01:16.8130000Z</dcterms:created>
  <dcterms:modified xsi:type="dcterms:W3CDTF">2026-10-12T19:01:16.8130000Z</dcterms:modified>
</coreProperties>
</file>